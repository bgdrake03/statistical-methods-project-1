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[~75 sec] Now WHERE in the store.</a:t>
            </a:r>
          </a:p>
          <a:p/>
          <a:p>
            <a:r>
              <a:t>UNIT FIRST, because you will ask. Dollars are summed at the line item — that is the accounting atom. But every difference I claim is measured at the household-by-department level: one household's private-label share of spend inside one aisle. I did that because the question is about shopper behaviour, not transactions — at item level a single 400-trip household would drive the whole test. One shopper, one vote.</a:t>
            </a:r>
          </a:p>
          <a:p/>
          <a:p>
            <a:r>
              <a:t>Handling: 2.6 million rows in, 99.3% of rows and effectively 100% of dollars retained. Nothing material was dropped.</a:t>
            </a:r>
          </a:p>
          <a:p/>
          <a:p>
            <a:r>
              <a:t>THE CHART. Left is where the private-label business IS. Right is where private label WINS. They are not the same aisle. GROCERY is $1.11M of private-label revenue — about two-thirds of the real total — but its 27% share is beaten by PASTRY at 52% and packaged SEAFOOD at 63%.</a:t>
            </a:r>
          </a:p>
          <a:p/>
          <a:p>
            <a:r>
              <a:t>And be honest about the grey bars: KIOSK-GAS and MISC SALES TRAN are 100% private label because fuel and coupon lines have no national brand to compete with. That is mechanical, not a preference. I exclude them from anything I recommend.</a:t>
            </a:r>
          </a:p>
          <a:p/>
          <a:p>
            <a:r>
              <a:t>Biggest single category: fluid milk, $182K at 89%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[~75 sec] Is the gap real, and how big?</a:t>
            </a:r>
          </a:p>
          <a:p/>
          <a:p>
            <a:r>
              <a:t>In business language: households spend 28.4 cents of every GROCERY dollar on private label, but only 10.2 cents in DRUG GM. That is an 18-point gap, and I am 95% confident the true gap is between 17 and 19 points. The intervals are cluster bootstrapped over households because a household shows up in several departments — a textbook t-interval would be too narrow.</a:t>
            </a:r>
          </a:p>
          <a:p/>
          <a:p>
            <a:r>
              <a:t>MULTIPLICITY: I ran all 10 pairwise comparisons and adjusted for all 10 with Tukey. All 10 separate. Welch ANOVA and Kruskal–Wallis agree, so this does not depend on a normality assumption — which matters because the outcome is bounded at 0 and 1 and piled up at both ends.</a:t>
            </a:r>
          </a:p>
          <a:p/>
          <a:p>
            <a:r>
              <a:t>NOW THE HONEST PART — two rival explanations.</a:t>
            </a:r>
          </a:p>
          <a:p>
            <a:r>
              <a:t>One: maybe it is just shelf space. Private label is only 8% of DRUG GM's assortment versus 23% of GROCERY's. So I divided dollar share by assortment share. Every department comes out above 1 — MEAT-PCKGD 1.31, DRUG GM 1.20, GROCERY 1.19 — meaning shoppers over-select private label relative to what is stocked, everywhere. Shelf space suppresses the level; it does not create the ranking.</a:t>
            </a:r>
          </a:p>
          <a:p>
            <a:r>
              <a:t>Two: maybe it is different shoppers. So I looked only at households that shop all five departments — same people, every aisle. Ranking identical.</a:t>
            </a:r>
          </a:p>
          <a:p/>
          <a:p>
            <a:r>
              <a:t>LIMITS: this is two years of one chain and it is observational. I can tell you where private label is chosen; I cannot tell you what adding facings would cause. And I have no margin data, so most revenue is not most profit. To make the stronger claim I would need a randomised facing or price test by department, plus cost data.</a:t>
            </a:r>
          </a:p>
          <a:p/>
          <a:p>
            <a:r>
              <a:t>IMPLICATION for the recommendation: MEAT-PCKGD has the strongest genuine appetite (index 1.31) on only 17% of the assortment — that is the under-shelved opportunity. GROCERY is the engine to protect.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5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37744"/>
            <a:ext cx="11247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0529B"/>
                </a:solidFill>
                <a:latin typeface="Calibri"/>
              </a:rPr>
              <a:t>WHERE DO THEY BUY IT?  |  Private label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48640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F2D3D"/>
                </a:solidFill>
                <a:latin typeface="Calibri"/>
              </a:rPr>
              <a:t>Revenue and share point to different aisles — GROCERY is the engine, DRUG GM is the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188720"/>
            <a:ext cx="11247120" cy="566928"/>
          </a:xfrm>
          <a:prstGeom prst="roundRect">
            <a:avLst>
              <a:gd name="adj" fmla="val 4000"/>
            </a:avLst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0529B"/>
                </a:solidFill>
              </a:rPr>
              <a:t>UNIT OF ANALYSIS  </a:t>
            </a:r>
            <a:r>
              <a:rPr sz="1150">
                <a:solidFill>
                  <a:srgbClr val="1F2D3D"/>
                </a:solidFill>
              </a:rPr>
              <a:t>Dollar totals are summed at the line item (the accounting atom). Every claim of a difference is made at the household × department — one household's PL share of spend in one aisle, one shopper one vote, so no heavy shopper can carry the result.</a:t>
            </a:r>
          </a:p>
        </p:txBody>
      </p:sp>
      <p:pic>
        <p:nvPicPr>
          <p:cNvPr id="6" name="Picture 5" descr="sl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83664"/>
            <a:ext cx="8183879" cy="30657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59952" y="1883664"/>
            <a:ext cx="2980944" cy="44074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79408" y="2066543"/>
            <a:ext cx="2560320" cy="406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0529B"/>
                </a:solidFill>
                <a:latin typeface="Calibri"/>
              </a:rPr>
              <a:t>WHAT THIS CHANGES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F2D3D"/>
                </a:solidFill>
                <a:latin typeface="Calibri"/>
              </a:rPr>
              <a:t>The two rankings disagree.</a:t>
            </a:r>
          </a:p>
          <a:p>
            <a:pPr algn="l">
              <a:lnSpc>
                <a:spcPct val="97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 i="0">
                <a:solidFill>
                  <a:srgbClr val="1F2D3D"/>
                </a:solidFill>
                <a:latin typeface="Calibri"/>
              </a:rPr>
              <a:t>GROCERY holds $1.11M of private-label revenue — 68% of all genuine PL dollars — yet its 27.0% share is beaten by PASTRY (51.6%) and SEAFOOD-PCKGD (62.6%).</a:t>
            </a:r>
          </a:p>
          <a:p>
            <a:pPr algn="l">
              <a:lnSpc>
                <a:spcPct val="97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 i="1">
                <a:solidFill>
                  <a:srgbClr val="5B6B7C"/>
                </a:solidFill>
                <a:latin typeface="Calibri"/>
              </a:rPr>
              <a:t>So size and strength live in different aisles: report only revenue and you chase GROCERY, only share and you chase a rounding error.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77700"/>
                </a:solidFill>
                <a:latin typeface="Calibri"/>
              </a:rPr>
              <a:t>TWO DEPARTMENTS ARE NOT REAL</a:t>
            </a:r>
          </a:p>
          <a:p>
            <a:pPr algn="l">
              <a:lnSpc>
                <a:spcPct val="97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 i="0">
                <a:solidFill>
                  <a:srgbClr val="1F2D3D"/>
                </a:solidFill>
                <a:latin typeface="Calibri"/>
              </a:rPr>
              <a:t>KIOSK-GAS (100%) and MISC SALES TRAN (95.3%) are fuel and coupon lines with no national brand on the shelf. Mechanically 100%, not a shopper choice — dropped from all recommendations.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0529B"/>
                </a:solidFill>
                <a:latin typeface="Calibri"/>
              </a:rPr>
              <a:t>BIGGEST SINGLE CATEGORY</a:t>
            </a:r>
          </a:p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D3D"/>
                </a:solidFill>
                <a:latin typeface="Calibri"/>
              </a:rPr>
              <a:t>FLUID MILK PRODUCTS — $182.5K of PL revenue at 88.9% share, from 2,421 households.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B7C"/>
                </a:solidFill>
                <a:latin typeface="Calibri"/>
              </a:rPr>
              <a:t>2,595,732 transaction rows → 2,576,815 analysed: 99.3% of rows and 100.0% of dollars retained. Zero/negative lines and unlabelled brands dropped.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645566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B7C"/>
                </a:solidFill>
                <a:latin typeface="Calibri"/>
              </a:rPr>
              <a:t>Ximin Zeng  | 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5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37744"/>
            <a:ext cx="11247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0529B"/>
                </a:solidFill>
                <a:latin typeface="Calibri"/>
              </a:rPr>
              <a:t>IS IT REAL?  |  Magnitude, certainty, and the rival explanations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48640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F2D3D"/>
                </a:solidFill>
                <a:latin typeface="Calibri"/>
              </a:rPr>
              <a:t>An 18-point gap that survives every check we could throw at it</a:t>
            </a:r>
          </a:p>
        </p:txBody>
      </p:sp>
      <p:pic>
        <p:nvPicPr>
          <p:cNvPr id="5" name="Picture 4" descr="slid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35024"/>
            <a:ext cx="5989320" cy="363966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75488" y="4828032"/>
            <a:ext cx="5806440" cy="1444752"/>
          </a:xfrm>
          <a:prstGeom prst="roundRect">
            <a:avLst>
              <a:gd name="adj" fmla="val 4000"/>
            </a:avLst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4974336"/>
            <a:ext cx="5349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0529B"/>
                </a:solidFill>
                <a:latin typeface="Calibri"/>
              </a:rPr>
              <a:t>MAGNITUDE &amp; MULTIPLICITY</a:t>
            </a:r>
          </a:p>
          <a:p>
            <a:pPr algn="l">
              <a:lnSpc>
                <a:spcPct val="97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F2D3D"/>
                </a:solidFill>
                <a:latin typeface="Calibri"/>
              </a:rPr>
              <a:t>Households put 28.4% of GROCERY dollars into private label but only 10.2% of DRUG GM — an 18.2-point gap we are 95% confident sits between 17.2 and 19.3 points.</a:t>
            </a:r>
          </a:p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C"/>
                </a:solidFill>
                <a:latin typeface="Calibri"/>
              </a:rPr>
              <a:t>All 10 pairwise comparisons were run and Tukey-adjusted for running them; all 10 separate. Welch ANOVA and Kruskal–Wallis agree, so the result does not rest on normality.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47104" y="1335024"/>
            <a:ext cx="5193792" cy="22128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66560" y="1490472"/>
            <a:ext cx="4773168" cy="1938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77700"/>
                </a:solidFill>
                <a:latin typeface="Calibri"/>
              </a:rPr>
              <a:t>ALTERNATIVE EXPLANATION 1 — IS IT JUST SHELF SPACE?</a:t>
            </a:r>
          </a:p>
          <a:p>
            <a:pPr algn="l">
              <a:lnSpc>
                <a:spcPct val="97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C"/>
                </a:solidFill>
                <a:latin typeface="Calibri"/>
              </a:rPr>
              <a:t>Private label is only 7.9% of DRUG GM's assortment vs 22.7% of GROCERY's, so availability is a real rival explanation.</a:t>
            </a:r>
          </a:p>
          <a:p>
            <a:pPr algn="l">
              <a:lnSpc>
                <a:spcPct val="97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C"/>
                </a:solidFill>
                <a:latin typeface="Calibri"/>
              </a:rPr>
              <a:t>Ruled out, partly. Dollar share ÷ assortment share gives a preference index &gt;1 in every department: MEAT-PCKGD 1.31, DRUG GM 1.20, GROCERY 1.19. Shoppers over-select private label relative to what is stocked everywhere — so shelf space suppresses the level but does not create the ranking.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47104" y="3657600"/>
            <a:ext cx="5193792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66560" y="3813048"/>
            <a:ext cx="4773168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77700"/>
                </a:solidFill>
                <a:latin typeface="Calibri"/>
              </a:rPr>
              <a:t>ALTERNATIVE EXPLANATION 2 — IS IT JUST DIFFERENT SHOPPERS?</a:t>
            </a:r>
          </a:p>
          <a:p>
            <a:pPr algn="l">
              <a:lnSpc>
                <a:spcPct val="97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C"/>
                </a:solidFill>
                <a:latin typeface="Calibri"/>
              </a:rPr>
              <a:t>Restricting to households that shop all focus departments holds shopper mix constant by construction. The order is unchanged: GROCERY 27.3%, MEAT-PCKGD 21.3%, DRUG GM 9.9% (Friedman).</a:t>
            </a:r>
          </a:p>
          <a:p>
            <a:pPr algn="l">
              <a:lnSpc>
                <a:spcPct val="97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C"/>
                </a:solidFill>
                <a:latin typeface="Calibri"/>
              </a:rPr>
              <a:t>A per-item check also leaves the ranking intact, so the finding is not an artefact of the dollar metric.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47104" y="5248656"/>
            <a:ext cx="5193792" cy="1024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66560" y="5404104"/>
            <a:ext cx="477316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B7C"/>
                </a:solidFill>
                <a:latin typeface="Calibri"/>
              </a:rPr>
              <a:t>LIMITS — WHAT WE CANNOT CLAIM</a:t>
            </a:r>
          </a:p>
          <a:p>
            <a:pPr algn="l">
              <a:lnSpc>
                <a:spcPct val="97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C"/>
                </a:solidFill>
                <a:latin typeface="Calibri"/>
              </a:rPr>
              <a:t>Two years of one chain, observational: we measure where private label is chosen, not what a shelf change would cause. Margin is unobserved, so "most revenue" is not "most profit." A proper claim needs a randomised facing/price test by department and cost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645566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B7C"/>
                </a:solidFill>
                <a:latin typeface="Calibri"/>
              </a:rPr>
              <a:t>Household × department observations; households spending &lt;$30 in a department over two years excluded. Cluster bootstrap resamples households, not rows.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645566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B7C"/>
                </a:solidFill>
                <a:latin typeface="Calibri"/>
              </a:rPr>
              <a:t>Ximin Zeng  | 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